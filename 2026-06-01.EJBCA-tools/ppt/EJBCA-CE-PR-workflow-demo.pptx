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69" r:id="rId6"/>
    <p:sldId id="264" r:id="rId7"/>
    <p:sldId id="258" r:id="rId8"/>
    <p:sldId id="270" r:id="rId9"/>
    <p:sldId id="265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17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31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EEF9E-0F4D-1A91-38AD-F7179152C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4417A-6560-2B3C-2359-636D6E561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15089-21D2-982A-21DF-FF68E4FBA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F319D-4D01-08F3-87A5-1483452C4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29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DF67F-A9C0-B9AF-43CB-CDA41992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E9C1B-B09B-901E-75C0-60290DA27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16C62-818F-2B9F-2FA3-946B1A17E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84266-41A3-80EF-0767-7C3416FA35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79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3138-C508-213A-CD0D-9AAB8EEA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1F3E6-5FFB-FFEE-CC6E-CB2BFA909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E19D45-CD27-E242-FAC0-C7C5F5C2E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F8C43-FEB7-7B5D-0D0B-9E4A8D434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54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9062-5951-CACE-92A2-FB5FF3CB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93469-F676-810C-8E9B-7694CD8D7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80CDE-80B0-3D91-D2E5-1273AEA83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8A3BA-C4C0-5E48-EEC2-6F8C980FD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64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09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-D-B/Claudes/blob/main/2026-06-01.EJBCA-tools/elt/insights/CLAUDE-ejbca-fix-requests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keyfactor.com/ejbca/9.3.2/tutorial-use-ejbca-with-cert-manager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-D-B/Claudes/blob/main/2026-06-01.EJBCA-tools/README.m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ohn-D-B/Claudes/blob/main/2026-06-01.EJBCA-tools/ejbca-ce/README-ejbca-ce.m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-D-B/Claudes/blob/main/2026-06-01.EJBCA-tools/ejbca-ce/DEMO-automated.m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ohn-D-B/Claudes/blob/main/2026-06-01.EJBCA-tools/ejbca-ce/DEMO-manually.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-D-B/Claudes/blob/main/2026-06-01.EJBCA-tools/ejbca-ce/DEMO-automated.m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-D-B/Claudes/blob/main/2026-06-01.EJBCA-tools/ejbca-ce/DEMO-manually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umi-ch/cert-grep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42867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EJBCA Workflow Demos</a:t>
            </a:r>
            <a:br>
              <a:rPr lang="en-US" sz="3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Kubernetes Cert-Manager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3957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2030961"/>
            <a:ext cx="7315200" cy="20434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Illustrated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Pull-Request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validations, for two unrecognized garbage-collection gaps in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EJBCA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 &amp; EE.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scripted mechanism to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EJBCA-CE in Docker containers, then adding the Pull Requests.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K8s certificate requests, with a PKI tool implementing the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Keyfactor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tutorial steps (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lists by EJBCA end-entity, clearly showing: Active, Expired, Revoked (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 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PKI tool).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certificate content inspection (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cert-grep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ssl-grep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PKI tools).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and well-documented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examples, for easy reproduction and demonstrations.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development, with LLM notes (Claude files) facilitates uptake.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distribution on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of all notes and tools.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87867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</a:t>
            </a:r>
            <a:r>
              <a:rPr lang="en-US" sz="1200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JohnB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AI pair-programming using Anthropic Claude Code (Opus) · June 23</a:t>
            </a:r>
            <a:r>
              <a:rPr lang="en-US" sz="1200" baseline="300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r>
              <a:rPr lang="en-US" sz="12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7" y="4352544"/>
            <a:ext cx="643289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PowerPoint and MD (markdown) templating, with document suggestions.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Substantial Keyfactor GitHub source-code review and further developments by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(Opus 4.x).</a:t>
            </a:r>
            <a:endParaRPr lang="en-US" sz="100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code &amp; config artifacts were directed and reviewed by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JohnB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full PKI DevOps &amp; programming expertise.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28343"/>
            <a:ext cx="8229600" cy="3027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EJBCA-CE Pull Requests (PRs), verified from a clean clone:</a:t>
            </a:r>
            <a:b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https://github.com/John-D-B/Claudes/blob/main/2026-06-01.EJBCA-tools/elt/insights/CLAUDE-ejbca-fix-requests.md</a:t>
            </a:r>
            <a:endParaRPr lang="en-US" sz="10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Fix-26 — REST-API DELETE of one or more revoked certificate, when expiration date is far future.</a:t>
            </a:r>
            <a:endParaRPr lang="en-US" sz="12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Fix-27 — DBMS worker that bulk-deletes revoked certs (garbage collection, prior to EJBCA-Issuer fix).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By-products demonstrating the PRs, but also useful stand-alone: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Scripted (automated) local setup of EJBCA-CE in Docker, directly from GitHub source, for quick onboarding.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Python “EJBCA Lifecycle Tool” (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ELT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) showing organized lists of the X.509 certificates within EJBCA.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Scripted (automated) K8s cert-manager issuing tool (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DEK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), based on Keyfactor tutorial of manual steps:</a:t>
            </a:r>
            <a:b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4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</a:t>
            </a:r>
            <a:br>
              <a:rPr lang="en-US" sz="4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4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	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https://docs.keyfactor.com/ejbca/9.3.2/tutorial-use-ejbca-with-cert-manager</a:t>
            </a:r>
            <a:endParaRPr lang="en-US" sz="1000" dirty="0">
              <a:solidFill>
                <a:srgbClr val="2C2C2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User-friendly, high-powered X.509 certificate inspection tools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cert-grep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&amp;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ssl-grep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, resolving this gripe:</a:t>
            </a:r>
            <a:b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4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</a:t>
            </a:r>
            <a:br>
              <a:rPr lang="en-US" sz="4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200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“Everyone </a:t>
            </a:r>
            <a:r>
              <a:rPr lang="en-US" sz="1200" b="1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talks</a:t>
            </a:r>
            <a:r>
              <a:rPr lang="en-US" sz="1200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about PKI certificates, but no one </a:t>
            </a:r>
            <a:r>
              <a:rPr lang="en-US" sz="1200" b="1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conveniently</a:t>
            </a:r>
            <a:r>
              <a:rPr lang="en-US" sz="1200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200" b="1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shows me </a:t>
            </a:r>
            <a:r>
              <a:rPr lang="en-US" sz="1200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what you’re talking about !”</a:t>
            </a:r>
          </a:p>
          <a:p>
            <a:pPr marL="635000" lvl="1" indent="-177800">
              <a:spcAft>
                <a:spcPts val="800"/>
              </a:spcAft>
              <a:buSzPct val="100000"/>
              <a:buChar char="•"/>
            </a:pPr>
            <a:endParaRPr lang="en-US" sz="1200" dirty="0">
              <a:solidFill>
                <a:srgbClr val="2C2C2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4339979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Turned and tested two upstream PRs into a live demo.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Refined and documented this into a working local setup.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18" y="4352544"/>
            <a:ext cx="349680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&amp; Months of know-how study reduced to Hours.</a:t>
            </a:r>
            <a:endParaRPr lang="en-US" sz="1000" b="1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Tested and repeatable from a clean GitHub clone.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450E4-58EC-BAF5-F986-A95B19C3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07B159-C83D-D1CF-C82E-C3BFBFE21AB1}"/>
              </a:ext>
            </a:extLst>
          </p:cNvPr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66572B-4E7C-BD3D-3F84-17BB27112745}"/>
              </a:ext>
            </a:extLst>
          </p:cNvPr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description:  Corporate scenario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316618-1BD9-A6C0-BF6D-B4358CE3DC19}"/>
              </a:ext>
            </a:extLst>
          </p:cNvPr>
          <p:cNvSpPr/>
          <p:nvPr/>
        </p:nvSpPr>
        <p:spPr>
          <a:xfrm>
            <a:off x="502920" y="1216152"/>
            <a:ext cx="822960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PKI / EJBCA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separate silo from the Kubernetes / RHOS admin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need certificates.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K8s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cert-manager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is an obvious integration tool, BUT it appears to K8s teams as the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real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 “CA/RA” server.</a:t>
            </a:r>
          </a:p>
          <a:p>
            <a:pPr marL="3556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Effectively, K8s cert-manager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is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, rightly, the “CA/RA” for the K8s team. (</a:t>
            </a:r>
            <a:r>
              <a:rPr lang="en-US" sz="1200" i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Sorry Keyfactor, you’re just a backend.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)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So: b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ugs in EJBCA 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 K8s 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integration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are “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unsolvable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” to EJBCA team, and “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invisible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” to K8s/RHOS teams.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Real example: PKI security team defines a “max certificate lifetime” of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two years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, or maybe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47 days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, in EJBCA.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Then the K8s wise-guys / stress-testers / zero-trusters request certs with an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hourly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renewal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. Because they can.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In EJBCA, if “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Enforce unique DN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” is checked, the first renewal immediately fails – the CN (</a:t>
            </a:r>
            <a:r>
              <a:rPr lang="en-US" sz="1200" dirty="0" err="1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etc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) is not unique.</a:t>
            </a:r>
          </a:p>
          <a:p>
            <a:pPr marL="3556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K8s bug fix: unchecking it in EJBCA resolves symptoms, but then “garbage certificates”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accumulate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hourly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!</a:t>
            </a:r>
          </a:p>
          <a:p>
            <a:pPr marL="3556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Current EJBCA-EE (only) can be configured with a “DBMS reaper” service for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expired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certs, but not for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revoked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.</a:t>
            </a:r>
          </a:p>
          <a:p>
            <a:pPr marL="3556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Earlier EJBCA-Issuer v1.3.2 bug (now fixed by me) didn’t propagate “NotAfter” (expired) date when issuing.</a:t>
            </a:r>
          </a:p>
          <a:p>
            <a:pPr marL="355600" lvl="1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Real example: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Many thousands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of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garbage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certs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 accumulating hourly, with no recourse! Tech support no help.</a:t>
            </a:r>
          </a:p>
          <a:p>
            <a:pPr marL="177800" lvl="1">
              <a:spcAft>
                <a:spcPts val="800"/>
              </a:spcAft>
              <a:buSzPct val="100000"/>
            </a:pPr>
            <a:endParaRPr lang="en-US" sz="1200" dirty="0">
              <a:solidFill>
                <a:srgbClr val="2C2C2A"/>
              </a:solidFill>
              <a:latin typeface="Arial" pitchFamily="34" charset="0"/>
              <a:cs typeface="Arial" pitchFamily="34" charset="-120"/>
              <a:sym typeface="Wingdings" pitchFamily="2" charset="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9BCA435-EE3F-D17B-1ED2-22F68E46C399}"/>
              </a:ext>
            </a:extLst>
          </p:cNvPr>
          <p:cNvSpPr/>
          <p:nvPr/>
        </p:nvSpPr>
        <p:spPr>
          <a:xfrm>
            <a:off x="365760" y="4339979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131F15-30E3-0D70-EE5B-B97231E80BD9}"/>
              </a:ext>
            </a:extLst>
          </p:cNvPr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FF602D-2688-1ECA-0E3C-417C9B8339C2}"/>
              </a:ext>
            </a:extLst>
          </p:cNvPr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21E617-2068-7F13-69C2-5B245F29A43F}"/>
              </a:ext>
            </a:extLst>
          </p:cNvPr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EJBCA-EE Software Appliance has no tool for this.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Claude did in-depth analysis via EJBCA REST-API.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B17543-C1E0-7BCE-9C82-5FE83DC0945C}"/>
              </a:ext>
            </a:extLst>
          </p:cNvPr>
          <p:cNvSpPr/>
          <p:nvPr/>
        </p:nvSpPr>
        <p:spPr>
          <a:xfrm>
            <a:off x="5074918" y="4352544"/>
            <a:ext cx="349680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Deduced that EJBCA organizes by End-Entity, not Cert.</a:t>
            </a:r>
            <a:endParaRPr lang="en-US" sz="1000" b="1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Bugs and gaps detected and reported (in my docs).</a:t>
            </a:r>
            <a:endParaRPr lang="en-US" sz="100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3FA3260-CF8B-3613-A7CD-659311F7B0E4}"/>
              </a:ext>
            </a:extLst>
          </p:cNvPr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562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AC2C-5F70-1714-F883-2729691BD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C668FB-6B38-5063-7D46-BFE97EC0C40A}"/>
              </a:ext>
            </a:extLst>
          </p:cNvPr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5111B6-A8BA-7953-A325-97BC749BF500}"/>
              </a:ext>
            </a:extLst>
          </p:cNvPr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15003D-94F3-F262-15AB-A0D1D1323738}"/>
              </a:ext>
            </a:extLst>
          </p:cNvPr>
          <p:cNvSpPr/>
          <p:nvPr/>
        </p:nvSpPr>
        <p:spPr>
          <a:xfrm>
            <a:off x="502920" y="1216152"/>
            <a:ext cx="822960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lvl="1">
              <a:spcAft>
                <a:spcPts val="800"/>
              </a:spcAft>
              <a:buSzPct val="100000"/>
            </a:pP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small example shows one active cert (with the same CN), and a 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revoked certs that accumulate with 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K8s automation.</a:t>
            </a:r>
            <a:b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“revoked” status (“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”) is only because EJBCA “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Active Cert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is checked, else they’d also be active – even worse!</a:t>
            </a:r>
            <a:b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with status “</a:t>
            </a:r>
            <a:r>
              <a:rPr lang="en-US" sz="1000" b="1" i="1" dirty="0">
                <a:solidFill>
                  <a:srgbClr val="2C2C2A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are especially problematic, as they can’t be “reaped” by EJBCA until they expire.</a:t>
            </a:r>
            <a:b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 of Pull Requests 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Fix-26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Fix-27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to enable deleting “</a:t>
            </a:r>
            <a:r>
              <a:rPr lang="en-US" sz="1000" b="1" i="1" dirty="0">
                <a:solidFill>
                  <a:srgbClr val="2C2C2A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certs in EJBCA-EE, and both “</a:t>
            </a:r>
            <a:r>
              <a:rPr lang="en-US" sz="1000" b="1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and “</a:t>
            </a:r>
            <a:r>
              <a:rPr lang="en-US" sz="1000" b="1" i="1" dirty="0">
                <a:solidFill>
                  <a:srgbClr val="2C2C2A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in EJBCA-CE.</a:t>
            </a:r>
            <a:b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0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$ </a:t>
            </a:r>
            <a:r>
              <a:rPr lang="en-US" sz="1000" b="1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elt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list4 -</a:t>
            </a:r>
            <a:r>
              <a:rPr lang="en-US" sz="1000" b="1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ee-username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'</a:t>
            </a:r>
            <a:r>
              <a:rPr lang="en-US" sz="1000" noProof="1">
                <a:solidFill>
                  <a:srgbClr val="2C2C2A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TEST default-duration-1h'</a:t>
            </a:r>
            <a:b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</a:br>
            <a:r>
              <a:rPr lang="en-US" sz="4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</a:t>
            </a:r>
            <a:r>
              <a:rPr lang="en-US" sz="1000" b="1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ejbca-lifecycle-tool.py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v5.8.0</a:t>
            </a:r>
            <a:b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</a:br>
            <a:r>
              <a:rPr lang="en-US" sz="6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Certificates:   39:  1:</a:t>
            </a:r>
            <a:r>
              <a:rPr lang="en-US" sz="1000" noProof="0" dirty="0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A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active,  0:E expired,  36:R revoked+expired,  2:</a:t>
            </a:r>
            <a:r>
              <a:rPr lang="en-US" sz="1000" noProof="1">
                <a:solidFill>
                  <a:srgbClr val="2C2C2A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r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revoked+unexpired</a:t>
            </a:r>
          </a:p>
          <a:p>
            <a:pPr marL="177800" lvl="1">
              <a:buSzPct val="100000"/>
            </a:pPr>
            <a:r>
              <a:rPr lang="en-US" sz="4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#  S  Serial                                       Not Before                Not After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-- -  ------------------------------------------   ------------------------  ------------------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 1 A  7f66daccfafd22d8d8cbd970a6bf5181884a1234     May 06 05:35:14 2026 GMT  May 06 06:45:14 2026 GMT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 2 R  251730a8c86b713405370ffbfd7a330491cb5678     May 06 04:58:33 2026 GMT  May 06 06:08:32 2026 GMT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 3 R  7c0d8bf1115c42367b0245b83aca75b61e091011     May 06 04:21:52 2026 GMT  May 06 05:31:52 2026 GMT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 4 R  66e3dcd5892e39d628df4026bbb845a28d221213     May 06 03:45:11 2026 GMT  May 06 04:55:11 2026 GMT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 5 </a:t>
            </a:r>
            <a:r>
              <a:rPr lang="en-US" sz="1000" b="1" noProof="1">
                <a:solidFill>
                  <a:srgbClr val="2C2C2A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r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775dbfe747a506e639f607293b86500b30ca1415     May 06 03:45:11 2026 GMT  Jun 10 04:55:11 2027 GMT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 6 </a:t>
            </a:r>
            <a:r>
              <a:rPr lang="en-US" sz="1000" b="1" noProof="1">
                <a:solidFill>
                  <a:srgbClr val="2C2C2A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r</a:t>
            </a: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21d77603f83c570bd50f95e0d60e2dc9d6bd1517     May 06 03:08:28 2026 GMT  Jun 10 04:18:28 2027 GMT</a:t>
            </a:r>
          </a:p>
          <a:p>
            <a:pPr marL="177800" lvl="1">
              <a:buSzPct val="100000"/>
            </a:pPr>
            <a:r>
              <a:rPr lang="en-US" sz="1000" noProof="1">
                <a:solidFill>
                  <a:srgbClr val="2C2C2A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     ... 33 more — use -F to see the full list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09BFD2A-77AD-F8C7-8486-16A682219D32}"/>
              </a:ext>
            </a:extLst>
          </p:cNvPr>
          <p:cNvSpPr/>
          <p:nvPr/>
        </p:nvSpPr>
        <p:spPr>
          <a:xfrm>
            <a:off x="320040" y="4325112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F75E93-BCC1-8AAF-179A-466B92DC4610}"/>
              </a:ext>
            </a:extLst>
          </p:cNvPr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5AE4C2-A900-B458-B111-6DA1A77569F7}"/>
              </a:ext>
            </a:extLst>
          </p:cNvPr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FCB40E0-4D08-ACF2-2D96-623B09AF94D7}"/>
              </a:ext>
            </a:extLst>
          </p:cNvPr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Write Python tool: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EJBCA Lifecycle Tool 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Review EJBCA REST-API response and deduce status.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FC6CD7-0F41-F63A-19D3-9A5A58049B69}"/>
              </a:ext>
            </a:extLst>
          </p:cNvPr>
          <p:cNvSpPr/>
          <p:nvPr/>
        </p:nvSpPr>
        <p:spPr>
          <a:xfrm>
            <a:off x="5074918" y="4352544"/>
            <a:ext cx="349680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Synthesize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EJBCA-CE, for missing REST-API’s.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and ensure EJBCA-CE &amp; EJBCA-EE symmetry.</a:t>
            </a:r>
            <a:endParaRPr lang="en-US" sz="1000" b="1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3CA23DF-ABB5-38DB-3780-A3FE0550DFA4}"/>
              </a:ext>
            </a:extLst>
          </p:cNvPr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5024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F222-B586-192A-79AE-4E5873DD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F3B890-CAFD-ED04-0641-8BEBF53AE5A1}"/>
              </a:ext>
            </a:extLst>
          </p:cNvPr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6FE6C6-2510-4779-0717-933715018D3A}"/>
              </a:ext>
            </a:extLst>
          </p:cNvPr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to quickly reproduce this issue?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6AF0C9-9B03-2208-8987-18630368CC75}"/>
              </a:ext>
            </a:extLst>
          </p:cNvPr>
          <p:cNvSpPr/>
          <p:nvPr/>
        </p:nvSpPr>
        <p:spPr>
          <a:xfrm>
            <a:off x="502920" y="1193385"/>
            <a:ext cx="8229600" cy="2988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and configuring a new EJBCA environment is non-trivial, as is integrating</a:t>
            </a:r>
            <a:b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cert-manager – to say nothing about detecting bugs and fixing them.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you have good DevOps skills, there is much new and non-standard here.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JohnB’s</a:t>
            </a: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Create a demo ecosystem, to illustrate these PR’s for a wider audience.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makes this feasible, for a solo PKI practitioner with limited time.</a:t>
            </a:r>
            <a:b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Code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my preferred partner.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A comprehensive guide </a:t>
            </a:r>
            <a:r>
              <a:rPr lang="en-US" sz="12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(PKI tools) to quickly implement these test cases.</a:t>
            </a:r>
            <a:b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missing integration pieces not provided by Keyfactor.</a:t>
            </a:r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on GitHub:</a:t>
            </a:r>
            <a:br>
              <a:rPr lang="en-US" sz="12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hlinkClick r:id="rId3"/>
              </a:rPr>
              <a:t>https://github.com/John-D-B/Claudes/blob/main/2026-06-01.EJBCA-tools/README.md</a:t>
            </a:r>
            <a:br>
              <a:rPr lang="en-US" sz="1200" dirty="0"/>
            </a:br>
            <a:r>
              <a:rPr lang="en-US" sz="1200" dirty="0">
                <a:hlinkClick r:id="rId4"/>
              </a:rPr>
              <a:t>https://github.com/John-D-B/Claudes/blob/main/2026-06-01.EJBCA-tools/ejbca-ce/README-ejbca-ce.md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pPr marL="355600" lvl="1" indent="-177800">
              <a:spcAft>
                <a:spcPts val="8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8AB0AB-5A05-B3E5-39F1-B02A3359A10E}"/>
              </a:ext>
            </a:extLst>
          </p:cNvPr>
          <p:cNvSpPr/>
          <p:nvPr/>
        </p:nvSpPr>
        <p:spPr>
          <a:xfrm>
            <a:off x="365760" y="4339979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5F113A-2262-09C6-428B-45DF2604F9AE}"/>
              </a:ext>
            </a:extLst>
          </p:cNvPr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A26CD57-F61C-52C8-5421-93F2A1DC5434}"/>
              </a:ext>
            </a:extLst>
          </p:cNvPr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CA3C389-C839-B422-3A10-564A97C52397}"/>
              </a:ext>
            </a:extLst>
          </p:cNvPr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Multiple Claude Code instances working in parallel.</a:t>
            </a:r>
            <a:endParaRPr lang="en-US" sz="1000" dirty="0"/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Each PKI tool and workflow is AI-assisted and reviewed.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53BC509-3A7E-8D49-34EC-D8D934BA4C01}"/>
              </a:ext>
            </a:extLst>
          </p:cNvPr>
          <p:cNvSpPr/>
          <p:nvPr/>
        </p:nvSpPr>
        <p:spPr>
          <a:xfrm>
            <a:off x="5074918" y="4352544"/>
            <a:ext cx="349680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Documentation in markdown format, with skill guidelines.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D3A7303-59C7-A469-A505-554C3FF69027}"/>
              </a:ext>
            </a:extLst>
          </p:cNvPr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490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run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the orchestrator scripts run it for you</a:t>
            </a:r>
            <a:b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hlinkClick r:id="rId3"/>
              </a:rPr>
              <a:t>https://github.com/John-D-B/Claudes/blob/main/2026-06-01.EJBCA-tools/ejbca-ce/DEMO-automated.md</a:t>
            </a:r>
            <a:br>
              <a:rPr lang="en-US" sz="1200" dirty="0"/>
            </a:b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Manual: a step-by-step run book — every command + expected output</a:t>
            </a:r>
            <a:b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hlinkClick r:id="rId4"/>
              </a:rPr>
              <a:t>https://github.com/John-D-B/Claudes/blob/main/2026-06-01.EJBCA-tools/ejbca-ce/DEMO-manually.md</a:t>
            </a:r>
            <a:br>
              <a:rPr lang="en-US" sz="1200" dirty="0"/>
            </a:br>
            <a:r>
              <a:rPr lang="en-US" sz="1200" dirty="0"/>
              <a:t> 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stay consistent, from one shared workflow description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Two compatible walkthroughs, one model.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+ manual stay in lockstep.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4352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 manual step shows expected output (log files).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Section numbering aligned across both.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Workflow Summary: Automated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hlinkClick r:id="rId3"/>
              </a:rPr>
              <a:t>https://github.com/John-D-B/Claudes/blob/main/2026-06-01.EJBCA-tools/ejbca-ce/DEMO-automated.md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/>
              <a:t>Part 1:  Bring up the Docker stack</a:t>
            </a:r>
          </a:p>
          <a:p>
            <a:r>
              <a:rPr lang="en-US" sz="1600" dirty="0"/>
              <a:t>Part 2:  One-time setup (script group: 210.bootstrap/)</a:t>
            </a:r>
          </a:p>
          <a:p>
            <a:r>
              <a:rPr lang="en-US" sz="1600" dirty="0"/>
              <a:t>Part 3:  Build the PR code into the stack (230.rebuild/)</a:t>
            </a:r>
          </a:p>
          <a:p>
            <a:r>
              <a:rPr lang="en-US" sz="1600" dirty="0"/>
              <a:t>Part 4:  Verify both PRs (500.verify-PR/)</a:t>
            </a:r>
          </a:p>
          <a:p>
            <a:r>
              <a:rPr lang="en-US" sz="1600" dirty="0"/>
              <a:t>Part 5:  The real-world finale (BYOC mode)</a:t>
            </a:r>
            <a:br>
              <a:rPr lang="en-US" sz="1600" dirty="0"/>
            </a:br>
            <a:r>
              <a:rPr lang="en-US" sz="1200" dirty="0"/>
              <a:t>                   </a:t>
            </a:r>
            <a:r>
              <a:rPr lang="en-US" sz="1400" dirty="0">
                <a:sym typeface="Wingdings" pitchFamily="2" charset="2"/>
              </a:rPr>
              <a:t> B.Y.O.C. = </a:t>
            </a:r>
            <a:r>
              <a:rPr lang="en-US" sz="1200" i="1" dirty="0">
                <a:sym typeface="Wingdings" pitchFamily="2" charset="2"/>
              </a:rPr>
              <a:t>“</a:t>
            </a:r>
            <a:r>
              <a:rPr lang="en-US" sz="1400" i="1" dirty="0"/>
              <a:t>Bring Your Own Certificates”</a:t>
            </a:r>
            <a:br>
              <a:rPr lang="en-US" sz="1600" i="1" dirty="0"/>
            </a:br>
            <a:endParaRPr lang="en-US" sz="1600" i="1" dirty="0"/>
          </a:p>
          <a:p>
            <a:endParaRPr lang="en-US" sz="1600" dirty="0"/>
          </a:p>
          <a:p>
            <a:endParaRPr lang="en-US" sz="1600" dirty="0"/>
          </a:p>
          <a:p>
            <a:pPr marL="342900" indent="-342900">
              <a:buAutoNum type="alphaUcPeriod"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Bash scripts written to automate this.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Scanned scripts + docs for inconsistencies.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4352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Nothing secret written into the clone.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Reconciled results in a single pass.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91E0-A001-068C-3515-9575A10B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22080C-743B-1761-3D6B-AA995E4F3808}"/>
              </a:ext>
            </a:extLst>
          </p:cNvPr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Setup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2F58F9-14CC-ED12-BA80-383989ADFDE3}"/>
              </a:ext>
            </a:extLst>
          </p:cNvPr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cs typeface="Arial" pitchFamily="34" charset="-120"/>
              </a:rPr>
              <a:t>Workflow Summary: Manually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B3302E-1D5B-C0C0-1316-177EDE5A4925}"/>
              </a:ext>
            </a:extLst>
          </p:cNvPr>
          <p:cNvSpPr/>
          <p:nvPr/>
        </p:nvSpPr>
        <p:spPr>
          <a:xfrm>
            <a:off x="502920" y="1417320"/>
            <a:ext cx="8229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hlinkClick r:id="rId3"/>
              </a:rPr>
              <a:t>https://github.com/John-D-B/Claudes/blob/main/2026-06-01.EJBCA-tools/ejbca-ce/DEMO-manually.md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buAutoNum type="alphaUcPeriod"/>
            </a:pPr>
            <a:r>
              <a:rPr lang="en-US" sz="1600" dirty="0"/>
              <a:t>Set up the ecosystem and tools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Build the EJBCA-CE server (Docker)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Build the k3d cluster for K8s cert-manager (Docker)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Build up the revoked-certificate accumulation (DEK)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Apply the two PR fixes (visible Reaper results on the </a:t>
            </a:r>
            <a:r>
              <a:rPr lang="en-US" dirty="0"/>
              <a:t>D01</a:t>
            </a:r>
            <a:r>
              <a:rPr lang="en-US" sz="1600" dirty="0"/>
              <a:t> accumulation)</a:t>
            </a:r>
          </a:p>
          <a:p>
            <a:pPr marL="342900" indent="-342900">
              <a:buFontTx/>
              <a:buAutoNum type="alphaUcPeriod"/>
            </a:pPr>
            <a:r>
              <a:rPr lang="en-US" sz="1600" dirty="0"/>
              <a:t>Show the results (ELT, cert-grep, ssl-grep)</a:t>
            </a:r>
          </a:p>
          <a:p>
            <a:endParaRPr lang="en-US" sz="1600" dirty="0"/>
          </a:p>
          <a:p>
            <a:pPr marL="342900" indent="-342900">
              <a:buAutoNum type="alphaUcPeriod"/>
            </a:pP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205A6C-F264-0EFC-B019-E7B1C191A5F2}"/>
              </a:ext>
            </a:extLst>
          </p:cNvPr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005DD2-56E0-7E07-AF2D-091B0DE77173}"/>
              </a:ext>
            </a:extLst>
          </p:cNvPr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F407ADF-86B4-28CD-DE45-8FD1DD0A63FC}"/>
              </a:ext>
            </a:extLst>
          </p:cNvPr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9ECB04-4AEA-2237-93F1-E18B1AE43891}"/>
              </a:ext>
            </a:extLst>
          </p:cNvPr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Unwrapped setup instructions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Carefully written manual steps shadowing the automation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5E107E-AFF8-C6A9-5401-0B367CD8E602}"/>
              </a:ext>
            </a:extLst>
          </p:cNvPr>
          <p:cNvSpPr/>
          <p:nvPr/>
        </p:nvSpPr>
        <p:spPr>
          <a:xfrm>
            <a:off x="5074920" y="4352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Regression tests during development.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20B70E-6F3E-AB45-28C2-B77DB4D366EF}"/>
              </a:ext>
            </a:extLst>
          </p:cNvPr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4406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How all this was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environment:  JohnB’s </a:t>
            </a: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M2 Laptop, with Bash and “Homebrew” addons.</a:t>
            </a:r>
            <a:b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scripts and workflow are also expected to work on any Linux system, and in WSL.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AI code-bots used in parallel, coordinated via </a:t>
            </a:r>
            <a:r>
              <a:rPr lang="en-US" sz="15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Rchat </a:t>
            </a: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 custom AI communication bus.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setup of EJBCA-CE, pulling from GitHub, building into a fully functional app.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tools (ELT, DEK, cert-grep, ssl-grep) built with Claude Code assistance.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Tested: per-PR integration tests + fully captured run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refactoring passes, goals carried in parallel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Multiple code-bots, coordinated via Rchat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tooling built with Claude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4352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Codebase reading + cross-checking throughout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Tested with integration + full-run capture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· another PKI 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cert-grep </a:t>
            </a:r>
            <a:r>
              <a:rPr lang="en-US" sz="21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r>
              <a:rPr lang="en-US" sz="21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ssl-grep:  X.509 Certificate Inspectors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cert-grep</a:t>
            </a:r>
            <a:r>
              <a:rPr lang="en-US" sz="12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certificate files.  </a:t>
            </a:r>
            <a:r>
              <a:rPr lang="en-US" sz="1200" b="1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ssl-grep</a:t>
            </a:r>
            <a:r>
              <a:rPr lang="en-US" sz="12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live endpoints.  Same plain output, based on “</a:t>
            </a:r>
            <a:r>
              <a:rPr lang="en-US" sz="1200" i="1" noProof="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nice-ified</a:t>
            </a:r>
            <a:r>
              <a:rPr lang="en-US" sz="12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OpenSSL.</a:t>
            </a:r>
            <a:br>
              <a:rPr lang="en-US" sz="12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3"/>
              </a:rPr>
              <a:t>https://gitlab.com/umi-ch/cert-grep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682496"/>
            <a:ext cx="8321040" cy="1207008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737360"/>
            <a:ext cx="8101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b="1" noProof="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cert-grep.py  </a:t>
            </a:r>
            <a:r>
              <a:rPr lang="en-US" sz="1000" b="1" noProof="0" dirty="0" err="1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ManagementCA.crt</a:t>
            </a:r>
            <a:r>
              <a:rPr lang="en-US" sz="1000" b="1" noProof="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summary_0</a:t>
            </a: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	</a:t>
            </a: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Show a summary.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Certificate: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Issuer:          CN = ManagementCA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Subject:         CN = ManagementCA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 Number:     63:66:d2:a8:46:1b:b3:42:2f:2b:2a:46:6e:5e:be:e6:4e:8d:5b:94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Before:        Jun 21 22:13:13 2026 GMT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After:         Jun 20 22:13:12 2036 GMT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3090672"/>
            <a:ext cx="8321040" cy="1078992"/>
          </a:xfrm>
          <a:prstGeom prst="rect">
            <a:avLst/>
          </a:prstGeom>
          <a:solidFill>
            <a:srgbClr val="F2F1EC"/>
          </a:solidFill>
          <a:ln w="12700">
            <a:solidFill>
              <a:srgbClr val="F2F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3145536"/>
            <a:ext cx="81015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000" b="1" noProof="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ssl-grep.py  </a:t>
            </a:r>
            <a:r>
              <a:rPr lang="en-US" sz="1000" b="1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https://host.k3d.internal:8443  summary_0  verify	</a:t>
            </a: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Also verify the chain.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Chain verification: 2 certificate(s)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- chain: [0] host.k3d.internal  ← leaf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        + Valid (expires Jun 20 22:05:14 2028 GMT)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        + Signed by ManagementCA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C2C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Chain verification result: chain is internally consistent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352544"/>
            <a:ext cx="8412480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17320" y="4425696"/>
            <a:ext cx="0" cy="438912"/>
          </a:xfrm>
          <a:prstGeom prst="line">
            <a:avLst/>
          </a:prstGeom>
          <a:noFill/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72768" y="4352544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cert-grep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ssl-grep</a:t>
            </a: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built with Claude assistance.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Chain verify &amp; weakness scans are built in.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4920" y="435254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 engine: Files, P12/JKS, live SSL/TLS.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Readable - without OpenSSL incantations.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8388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4488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2073</Words>
  <Application>Microsoft Macintosh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Verifying EJBCA-CE Fix-26 &amp; Fix-27</dc:title>
  <dc:subject>PptxGenJS Presentation</dc:subject>
  <dc:creator>JohnB</dc:creator>
  <cp:lastModifiedBy>John DB</cp:lastModifiedBy>
  <cp:revision>44</cp:revision>
  <cp:lastPrinted>2026-06-23T07:36:13Z</cp:lastPrinted>
  <dcterms:created xsi:type="dcterms:W3CDTF">2026-06-22T12:12:13Z</dcterms:created>
  <dcterms:modified xsi:type="dcterms:W3CDTF">2026-06-23T07:37:58Z</dcterms:modified>
</cp:coreProperties>
</file>